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1"/>
  </p:normalViewPr>
  <p:slideViewPr>
    <p:cSldViewPr snapToGrid="0" snapToObjects="1">
      <p:cViewPr varScale="1">
        <p:scale>
          <a:sx n="101" d="100"/>
          <a:sy n="101" d="100"/>
        </p:scale>
        <p:origin x="90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914400" y="1903616"/>
            <a:ext cx="10332720" cy="1862048"/>
          </a:xfrm>
          <a:prstGeom prst="rect">
            <a:avLst/>
          </a:prstGeom>
          <a:noFill/>
        </p:spPr>
        <p:txBody>
          <a:bodyPr wrap="square" anchor="ctr">
            <a:spAutoFit/>
          </a:bodyPr>
          <a:lstStyle/>
          <a:p>
            <a:pPr algn="l">
              <a:spcAft>
                <a:spcPts val="600"/>
              </a:spcAft>
            </a:pPr>
            <a:r>
              <a:rPr sz="4400" b="1" i="0" dirty="0">
                <a:solidFill>
                  <a:srgbClr val="FFFFFF"/>
                </a:solidFill>
                <a:latin typeface="Cambria"/>
              </a:rPr>
              <a:t>Using AI on Your Assignments</a:t>
            </a:r>
          </a:p>
          <a:p>
            <a:pPr algn="l">
              <a:spcAft>
                <a:spcPts val="0"/>
              </a:spcAft>
            </a:pPr>
            <a:r>
              <a:rPr sz="2200" b="0" i="0" dirty="0">
                <a:solidFill>
                  <a:srgbClr val="CADCFC"/>
                </a:solidFill>
                <a:latin typeface="Calibri"/>
              </a:rPr>
              <a:t>How to extract, write, and submit your AI-use log</a:t>
            </a:r>
            <a:endParaRPr lang="uk-UA" sz="2200" b="0" i="0" dirty="0">
              <a:solidFill>
                <a:srgbClr val="CADCFC"/>
              </a:solidFill>
              <a:latin typeface="Calibri"/>
            </a:endParaRPr>
          </a:p>
          <a:p>
            <a:pPr algn="l">
              <a:spcAft>
                <a:spcPts val="0"/>
              </a:spcAft>
            </a:pPr>
            <a:endParaRPr lang="uk-UA" sz="2200" dirty="0">
              <a:solidFill>
                <a:srgbClr val="CADCFC"/>
              </a:solidFill>
              <a:latin typeface="Calibri"/>
            </a:endParaRPr>
          </a:p>
          <a:p>
            <a:pPr algn="l">
              <a:spcAft>
                <a:spcPts val="0"/>
              </a:spcAft>
            </a:pPr>
            <a:r>
              <a:rPr lang="uk-UA" sz="2200" dirty="0" err="1">
                <a:solidFill>
                  <a:srgbClr val="CADCFC"/>
                </a:solidFill>
                <a:latin typeface="Calibri"/>
              </a:rPr>
              <a:t>T</a:t>
            </a:r>
            <a:r>
              <a:rPr lang="en-US" sz="2200" dirty="0">
                <a:solidFill>
                  <a:srgbClr val="CADCFC"/>
                </a:solidFill>
                <a:latin typeface="Calibri"/>
              </a:rPr>
              <a:t>his slide was 100% made by AI</a:t>
            </a:r>
            <a:endParaRPr sz="2200" b="0" i="0" dirty="0">
              <a:solidFill>
                <a:srgbClr val="CADCFC"/>
              </a:solidFill>
              <a:latin typeface="Calibri"/>
            </a:endParaRPr>
          </a:p>
        </p:txBody>
      </p:sp>
      <p:sp>
        <p:nvSpPr>
          <p:cNvPr id="3" name="TextBox 2"/>
          <p:cNvSpPr txBox="1"/>
          <p:nvPr/>
        </p:nvSpPr>
        <p:spPr>
          <a:xfrm>
            <a:off x="914400" y="5760720"/>
            <a:ext cx="10332720" cy="548640"/>
          </a:xfrm>
          <a:prstGeom prst="rect">
            <a:avLst/>
          </a:prstGeom>
          <a:noFill/>
        </p:spPr>
        <p:txBody>
          <a:bodyPr wrap="square">
            <a:spAutoFit/>
          </a:bodyPr>
          <a:lstStyle/>
          <a:p>
            <a:pPr algn="l">
              <a:spcAft>
                <a:spcPts val="600"/>
              </a:spcAft>
            </a:pPr>
            <a:r>
              <a:rPr sz="1400" b="0" i="0">
                <a:solidFill>
                  <a:srgbClr val="CADCFC"/>
                </a:solidFill>
                <a:latin typeface="Calibri"/>
              </a:rPr>
              <a:t>Sociology · Kyiv School of Economics · Tymofii Brik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584775"/>
          </a:xfrm>
          <a:prstGeom prst="rect">
            <a:avLst/>
          </a:prstGeom>
          <a:noFill/>
        </p:spPr>
        <p:txBody>
          <a:bodyPr wrap="square">
            <a:spAutoFit/>
          </a:bodyPr>
          <a:lstStyle/>
          <a:p>
            <a:pPr algn="l">
              <a:spcAft>
                <a:spcPts val="600"/>
              </a:spcAft>
            </a:pPr>
            <a:r>
              <a:rPr lang="en-US" sz="3200" b="1" i="0" dirty="0">
                <a:solidFill>
                  <a:srgbClr val="1E2761"/>
                </a:solidFill>
                <a:latin typeface="Cambria"/>
              </a:rPr>
              <a:t>Homework – AI </a:t>
            </a:r>
            <a:r>
              <a:rPr lang="en-US" sz="3200" b="1" dirty="0">
                <a:solidFill>
                  <a:srgbClr val="1E2761"/>
                </a:solidFill>
                <a:latin typeface="Cambria"/>
              </a:rPr>
              <a:t>AI AI AI</a:t>
            </a:r>
            <a:endParaRPr sz="3200" b="1" i="0" dirty="0">
              <a:solidFill>
                <a:srgbClr val="1E2761"/>
              </a:solidFill>
              <a:latin typeface="Cambria"/>
            </a:endParaRPr>
          </a:p>
        </p:txBody>
      </p:sp>
      <p:sp>
        <p:nvSpPr>
          <p:cNvPr id="6" name="Rounded Rectangle 5"/>
          <p:cNvSpPr/>
          <p:nvPr/>
        </p:nvSpPr>
        <p:spPr>
          <a:xfrm>
            <a:off x="2626360" y="1371600"/>
            <a:ext cx="5212080" cy="4297680"/>
          </a:xfrm>
          <a:prstGeom prst="roundRect">
            <a:avLst>
              <a:gd name="adj" fmla="val 6000"/>
            </a:avLst>
          </a:prstGeom>
          <a:solidFill>
            <a:srgbClr val="E9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00680" y="1615440"/>
            <a:ext cx="4663440" cy="430887"/>
          </a:xfrm>
          <a:prstGeom prst="rect">
            <a:avLst/>
          </a:prstGeom>
          <a:noFill/>
        </p:spPr>
        <p:txBody>
          <a:bodyPr wrap="square">
            <a:spAutoFit/>
          </a:bodyPr>
          <a:lstStyle/>
          <a:p>
            <a:pPr algn="l">
              <a:spcAft>
                <a:spcPts val="600"/>
              </a:spcAft>
            </a:pPr>
            <a:r>
              <a:rPr lang="en-US" sz="2200" b="1" i="0" dirty="0">
                <a:solidFill>
                  <a:srgbClr val="1E6B3A"/>
                </a:solidFill>
                <a:latin typeface="Cambria"/>
              </a:rPr>
              <a:t>LOGS ARE IMPORTANT</a:t>
            </a:r>
            <a:endParaRPr sz="2200" b="1" i="0" dirty="0">
              <a:solidFill>
                <a:srgbClr val="1E6B3A"/>
              </a:solidFill>
              <a:latin typeface="Cambria"/>
            </a:endParaRPr>
          </a:p>
        </p:txBody>
      </p:sp>
      <p:sp>
        <p:nvSpPr>
          <p:cNvPr id="8" name="TextBox 7"/>
          <p:cNvSpPr txBox="1"/>
          <p:nvPr/>
        </p:nvSpPr>
        <p:spPr>
          <a:xfrm>
            <a:off x="2900680" y="2231236"/>
            <a:ext cx="4663440" cy="2769989"/>
          </a:xfrm>
          <a:prstGeom prst="rect">
            <a:avLst/>
          </a:prstGeom>
          <a:noFill/>
        </p:spPr>
        <p:txBody>
          <a:bodyPr wrap="square">
            <a:spAutoFit/>
          </a:bodyPr>
          <a:lstStyle/>
          <a:p>
            <a:pPr marL="228600" indent="-228600" algn="l">
              <a:spcAft>
                <a:spcPts val="1000"/>
              </a:spcAft>
              <a:buFont typeface="Calibri"/>
              <a:buChar char="•"/>
            </a:pPr>
            <a:endParaRPr lang="en-US" sz="1600" b="0" i="0" dirty="0">
              <a:solidFill>
                <a:srgbClr val="1E2761"/>
              </a:solidFill>
              <a:latin typeface="Calibri"/>
            </a:endParaRPr>
          </a:p>
          <a:p>
            <a:pPr marL="228600" indent="-228600" algn="l">
              <a:spcAft>
                <a:spcPts val="1000"/>
              </a:spcAft>
              <a:buFont typeface="Calibri"/>
              <a:buChar char="•"/>
            </a:pPr>
            <a:r>
              <a:rPr lang="en-UA" sz="1600" dirty="0">
                <a:solidFill>
                  <a:srgbClr val="1E2761"/>
                </a:solidFill>
                <a:latin typeface="Calibri"/>
              </a:rPr>
              <a:t>No log – no grade</a:t>
            </a:r>
          </a:p>
          <a:p>
            <a:pPr marL="228600" indent="-228600" algn="l">
              <a:spcAft>
                <a:spcPts val="1000"/>
              </a:spcAft>
              <a:buFont typeface="Calibri"/>
              <a:buChar char="•"/>
            </a:pPr>
            <a:r>
              <a:rPr sz="1600" b="0" i="0" dirty="0">
                <a:solidFill>
                  <a:srgbClr val="1E2761"/>
                </a:solidFill>
                <a:latin typeface="Calibri"/>
              </a:rPr>
              <a:t>Writing / debugging R or Excel code</a:t>
            </a:r>
          </a:p>
          <a:p>
            <a:pPr marL="228600" indent="-228600" algn="l">
              <a:spcAft>
                <a:spcPts val="1000"/>
              </a:spcAft>
              <a:buFont typeface="Calibri"/>
              <a:buChar char="•"/>
            </a:pPr>
            <a:r>
              <a:rPr sz="1600" b="0" i="0" dirty="0">
                <a:solidFill>
                  <a:srgbClr val="1E2761"/>
                </a:solidFill>
                <a:latin typeface="Calibri"/>
              </a:rPr>
              <a:t>Improving tables, charts, and visual aids</a:t>
            </a:r>
          </a:p>
          <a:p>
            <a:pPr marL="228600" indent="-228600" algn="l">
              <a:spcAft>
                <a:spcPts val="1000"/>
              </a:spcAft>
              <a:buFont typeface="Calibri"/>
              <a:buChar char="•"/>
            </a:pPr>
            <a:r>
              <a:rPr sz="1600" b="0" i="0" dirty="0">
                <a:solidFill>
                  <a:srgbClr val="1E2761"/>
                </a:solidFill>
                <a:latin typeface="Calibri"/>
              </a:rPr>
              <a:t>The weekly AI-driven practicum data labs</a:t>
            </a:r>
            <a:endParaRPr lang="en-US" sz="1600" b="0" i="0" dirty="0">
              <a:solidFill>
                <a:srgbClr val="1E2761"/>
              </a:solidFill>
              <a:latin typeface="Calibri"/>
            </a:endParaRPr>
          </a:p>
          <a:p>
            <a:pPr marL="228600" indent="-228600" algn="l">
              <a:spcAft>
                <a:spcPts val="1000"/>
              </a:spcAft>
              <a:buFont typeface="Calibri"/>
              <a:buChar char="•"/>
            </a:pPr>
            <a:r>
              <a:rPr lang="en-UA" sz="1600" dirty="0">
                <a:solidFill>
                  <a:srgbClr val="1E2761"/>
                </a:solidFill>
                <a:latin typeface="Calibri"/>
              </a:rPr>
              <a:t>Projects and essays WRITING!</a:t>
            </a:r>
            <a:endParaRPr sz="1600" b="0" i="0" dirty="0">
              <a:solidFill>
                <a:srgbClr val="1E2761"/>
              </a:solidFill>
              <a:latin typeface="Calibri"/>
            </a:endParaRPr>
          </a:p>
          <a:p>
            <a:pPr algn="l">
              <a:spcAft>
                <a:spcPts val="0"/>
              </a:spcAft>
            </a:pPr>
            <a:r>
              <a:rPr sz="1400" b="0" i="1" dirty="0">
                <a:solidFill>
                  <a:srgbClr val="1E6B3A"/>
                </a:solidFill>
                <a:latin typeface="Calibri"/>
              </a:rPr>
              <a:t>No log attached = treated as undisclosed AI use — an academic integrity issue.</a:t>
            </a:r>
          </a:p>
        </p:txBody>
      </p:sp>
      <p:sp>
        <p:nvSpPr>
          <p:cNvPr id="9" name="TextBox 8"/>
          <p:cNvSpPr txBox="1"/>
          <p:nvPr/>
        </p:nvSpPr>
        <p:spPr>
          <a:xfrm>
            <a:off x="457200" y="6446520"/>
            <a:ext cx="11274552" cy="320040"/>
          </a:xfrm>
          <a:prstGeom prst="rect">
            <a:avLst/>
          </a:prstGeom>
          <a:noFill/>
        </p:spPr>
        <p:txBody>
          <a:bodyPr wrap="square">
            <a:spAutoFit/>
          </a:bodyPr>
          <a:lstStyle/>
          <a:p>
            <a:pPr algn="l">
              <a:spcAft>
                <a:spcPts val="600"/>
              </a:spcAft>
            </a:pPr>
            <a:r>
              <a:rPr sz="1000" b="0" i="0">
                <a:solidFill>
                  <a:srgbClr val="5A5F73"/>
                </a:solidFill>
                <a:latin typeface="Calibri"/>
              </a:rPr>
              <a:t>KSE Sociology — AI-Use Log Guide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640080" y="1463040"/>
            <a:ext cx="6675120" cy="2559675"/>
          </a:xfrm>
          <a:prstGeom prst="rect">
            <a:avLst/>
          </a:prstGeom>
          <a:noFill/>
        </p:spPr>
        <p:txBody>
          <a:bodyPr wrap="square">
            <a:spAutoFit/>
          </a:bodyPr>
          <a:lstStyle/>
          <a:p>
            <a:pPr algn="l">
              <a:spcAft>
                <a:spcPts val="1400"/>
              </a:spcAft>
            </a:pPr>
            <a:r>
              <a:rPr sz="2000" b="1" i="0" dirty="0">
                <a:solidFill>
                  <a:srgbClr val="1E2761"/>
                </a:solidFill>
                <a:latin typeface="Calibri"/>
              </a:rPr>
              <a:t>This isn't about catching you out.</a:t>
            </a:r>
          </a:p>
          <a:p>
            <a:pPr marL="228600" indent="-228600" algn="l">
              <a:spcAft>
                <a:spcPts val="1600"/>
              </a:spcAft>
              <a:buFont typeface="Calibri"/>
              <a:buChar char="•"/>
            </a:pPr>
            <a:r>
              <a:rPr sz="1700" b="0" i="0" dirty="0">
                <a:solidFill>
                  <a:srgbClr val="1E2761"/>
                </a:solidFill>
                <a:latin typeface="Calibri"/>
              </a:rPr>
              <a:t>The point of these assignments is that you learn to read a claim critically</a:t>
            </a:r>
            <a:r>
              <a:rPr lang="en-US" sz="1700" b="0" i="0" dirty="0">
                <a:solidFill>
                  <a:srgbClr val="1E2761"/>
                </a:solidFill>
                <a:latin typeface="Calibri"/>
              </a:rPr>
              <a:t>,</a:t>
            </a:r>
            <a:r>
              <a:rPr sz="1700" b="0" i="0" dirty="0">
                <a:solidFill>
                  <a:srgbClr val="1E2761"/>
                </a:solidFill>
                <a:latin typeface="Calibri"/>
              </a:rPr>
              <a:t> including a claim made by an AI.</a:t>
            </a:r>
          </a:p>
          <a:p>
            <a:pPr marL="228600" indent="-228600" algn="l">
              <a:spcAft>
                <a:spcPts val="1600"/>
              </a:spcAft>
              <a:buFont typeface="Calibri"/>
              <a:buChar char="•"/>
            </a:pPr>
            <a:r>
              <a:rPr sz="1700" b="0" i="0" dirty="0">
                <a:solidFill>
                  <a:srgbClr val="1E2761"/>
                </a:solidFill>
                <a:latin typeface="Calibri"/>
              </a:rPr>
              <a:t>Checking an AI's answer against a real source IS the sociology skill being taught. </a:t>
            </a:r>
            <a:endParaRPr lang="en-US" sz="1700" b="0" i="0" dirty="0">
              <a:solidFill>
                <a:srgbClr val="1E2761"/>
              </a:solidFill>
              <a:latin typeface="Calibri"/>
            </a:endParaRPr>
          </a:p>
          <a:p>
            <a:pPr marL="228600" indent="-228600" algn="l">
              <a:spcAft>
                <a:spcPts val="1600"/>
              </a:spcAft>
              <a:buFont typeface="Calibri"/>
              <a:buChar char="•"/>
            </a:pPr>
            <a:r>
              <a:rPr sz="1700" b="0" i="0" dirty="0">
                <a:solidFill>
                  <a:srgbClr val="1E2761"/>
                </a:solidFill>
                <a:latin typeface="Calibri"/>
              </a:rPr>
              <a:t>A log, even one showing heavy AI use, is not a problem. An undisclosed one is.</a:t>
            </a:r>
          </a:p>
        </p:txBody>
      </p:sp>
      <p:sp>
        <p:nvSpPr>
          <p:cNvPr id="4" name="Rounded Rectangle 3"/>
          <p:cNvSpPr/>
          <p:nvPr/>
        </p:nvSpPr>
        <p:spPr>
          <a:xfrm>
            <a:off x="7589520" y="1463040"/>
            <a:ext cx="3931920" cy="4754880"/>
          </a:xfrm>
          <a:prstGeom prst="roundRect">
            <a:avLst>
              <a:gd name="adj" fmla="val 6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63840" y="3378814"/>
            <a:ext cx="3383280" cy="923330"/>
          </a:xfrm>
          <a:prstGeom prst="rect">
            <a:avLst/>
          </a:prstGeom>
          <a:noFill/>
        </p:spPr>
        <p:txBody>
          <a:bodyPr wrap="square" anchor="ctr">
            <a:spAutoFit/>
          </a:bodyPr>
          <a:lstStyle/>
          <a:p>
            <a:pPr algn="l">
              <a:spcAft>
                <a:spcPts val="0"/>
              </a:spcAft>
            </a:pPr>
            <a:r>
              <a:rPr sz="1800" b="1" i="1" dirty="0">
                <a:solidFill>
                  <a:srgbClr val="1E2761"/>
                </a:solidFill>
                <a:latin typeface="Calibri"/>
              </a:rPr>
              <a:t>Skipping the log means skipping the part that was actually the assignment.</a:t>
            </a:r>
          </a:p>
        </p:txBody>
      </p:sp>
      <p:sp>
        <p:nvSpPr>
          <p:cNvPr id="6" name="TextBox 5"/>
          <p:cNvSpPr txBox="1"/>
          <p:nvPr/>
        </p:nvSpPr>
        <p:spPr>
          <a:xfrm>
            <a:off x="457200" y="6446520"/>
            <a:ext cx="11274552" cy="320040"/>
          </a:xfrm>
          <a:prstGeom prst="rect">
            <a:avLst/>
          </a:prstGeom>
          <a:noFill/>
        </p:spPr>
        <p:txBody>
          <a:bodyPr wrap="square">
            <a:spAutoFit/>
          </a:bodyPr>
          <a:lstStyle/>
          <a:p>
            <a:pPr algn="l">
              <a:spcAft>
                <a:spcPts val="600"/>
              </a:spcAft>
            </a:pPr>
            <a:r>
              <a:rPr sz="1000" b="0" i="0">
                <a:solidFill>
                  <a:srgbClr val="5A5F73"/>
                </a:solidFill>
                <a:latin typeface="Calibri"/>
              </a:rPr>
              <a:t>KSE Sociology — AI-Use Log Guide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1077218"/>
          </a:xfrm>
          <a:prstGeom prst="rect">
            <a:avLst/>
          </a:prstGeom>
          <a:noFill/>
        </p:spPr>
        <p:txBody>
          <a:bodyPr wrap="square">
            <a:spAutoFit/>
          </a:bodyPr>
          <a:lstStyle/>
          <a:p>
            <a:pPr algn="l">
              <a:spcAft>
                <a:spcPts val="600"/>
              </a:spcAft>
            </a:pPr>
            <a:r>
              <a:rPr sz="3200" b="1" i="0" dirty="0">
                <a:solidFill>
                  <a:srgbClr val="1E2761"/>
                </a:solidFill>
                <a:latin typeface="Cambria"/>
              </a:rPr>
              <a:t>Your log needs exactly 4 things</a:t>
            </a:r>
            <a:r>
              <a:rPr lang="en-US" sz="3200" b="1" i="0" dirty="0">
                <a:solidFill>
                  <a:srgbClr val="1E2761"/>
                </a:solidFill>
                <a:latin typeface="Cambria"/>
              </a:rPr>
              <a:t> to count as a “log” by me (and thus to be graded)</a:t>
            </a:r>
            <a:endParaRPr sz="3200" b="1" i="0" dirty="0">
              <a:solidFill>
                <a:srgbClr val="1E2761"/>
              </a:solidFill>
              <a:latin typeface="Cambria"/>
            </a:endParaRPr>
          </a:p>
        </p:txBody>
      </p:sp>
      <p:sp>
        <p:nvSpPr>
          <p:cNvPr id="3" name="Oval 2"/>
          <p:cNvSpPr/>
          <p:nvPr/>
        </p:nvSpPr>
        <p:spPr>
          <a:xfrm>
            <a:off x="640080" y="160020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600" b="1" i="0">
                <a:solidFill>
                  <a:srgbClr val="FFFFFF"/>
                </a:solidFill>
                <a:latin typeface="Calibri"/>
              </a:rPr>
              <a:t>1</a:t>
            </a:r>
          </a:p>
        </p:txBody>
      </p:sp>
      <p:sp>
        <p:nvSpPr>
          <p:cNvPr id="4" name="TextBox 3"/>
          <p:cNvSpPr txBox="1"/>
          <p:nvPr/>
        </p:nvSpPr>
        <p:spPr>
          <a:xfrm>
            <a:off x="1554480" y="1554480"/>
            <a:ext cx="9966960" cy="625812"/>
          </a:xfrm>
          <a:prstGeom prst="rect">
            <a:avLst/>
          </a:prstGeom>
          <a:noFill/>
        </p:spPr>
        <p:txBody>
          <a:bodyPr wrap="square">
            <a:spAutoFit/>
          </a:bodyPr>
          <a:lstStyle/>
          <a:p>
            <a:pPr algn="l">
              <a:spcAft>
                <a:spcPts val="200"/>
              </a:spcAft>
            </a:pPr>
            <a:r>
              <a:rPr sz="1900" b="1" i="0" dirty="0">
                <a:solidFill>
                  <a:srgbClr val="1E2761"/>
                </a:solidFill>
                <a:latin typeface="Calibri"/>
              </a:rPr>
              <a:t>Tool, tier, date</a:t>
            </a:r>
          </a:p>
          <a:p>
            <a:pPr algn="l">
              <a:spcAft>
                <a:spcPts val="0"/>
              </a:spcAft>
            </a:pPr>
            <a:r>
              <a:rPr sz="1400" b="0" i="0" dirty="0">
                <a:solidFill>
                  <a:srgbClr val="5A5F73"/>
                </a:solidFill>
                <a:latin typeface="Calibri"/>
              </a:rPr>
              <a:t>e.g. “ChatGPT (free), 2026-09-14.”</a:t>
            </a:r>
          </a:p>
        </p:txBody>
      </p:sp>
      <p:sp>
        <p:nvSpPr>
          <p:cNvPr id="5" name="Oval 4"/>
          <p:cNvSpPr/>
          <p:nvPr/>
        </p:nvSpPr>
        <p:spPr>
          <a:xfrm>
            <a:off x="640080" y="278892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600" b="1" i="0">
                <a:solidFill>
                  <a:srgbClr val="FFFFFF"/>
                </a:solidFill>
                <a:latin typeface="Calibri"/>
              </a:rPr>
              <a:t>2</a:t>
            </a:r>
          </a:p>
        </p:txBody>
      </p:sp>
      <p:sp>
        <p:nvSpPr>
          <p:cNvPr id="6" name="TextBox 5"/>
          <p:cNvSpPr txBox="1"/>
          <p:nvPr/>
        </p:nvSpPr>
        <p:spPr>
          <a:xfrm>
            <a:off x="1554480" y="2743200"/>
            <a:ext cx="9966960" cy="625812"/>
          </a:xfrm>
          <a:prstGeom prst="rect">
            <a:avLst/>
          </a:prstGeom>
          <a:noFill/>
        </p:spPr>
        <p:txBody>
          <a:bodyPr wrap="square">
            <a:spAutoFit/>
          </a:bodyPr>
          <a:lstStyle/>
          <a:p>
            <a:pPr algn="l">
              <a:spcAft>
                <a:spcPts val="200"/>
              </a:spcAft>
            </a:pPr>
            <a:r>
              <a:rPr sz="1900" b="1" i="0" dirty="0">
                <a:solidFill>
                  <a:srgbClr val="1E2761"/>
                </a:solidFill>
                <a:latin typeface="Calibri"/>
              </a:rPr>
              <a:t>Exact prompt(s)</a:t>
            </a:r>
          </a:p>
          <a:p>
            <a:pPr algn="l">
              <a:spcAft>
                <a:spcPts val="0"/>
              </a:spcAft>
            </a:pPr>
            <a:r>
              <a:rPr sz="1400" b="0" i="0" dirty="0">
                <a:solidFill>
                  <a:srgbClr val="5A5F73"/>
                </a:solidFill>
                <a:latin typeface="Calibri"/>
              </a:rPr>
              <a:t>Copy-paste what you actually typed. Not a summary </a:t>
            </a:r>
            <a:r>
              <a:rPr lang="en-US" sz="1400" dirty="0">
                <a:solidFill>
                  <a:srgbClr val="5A5F73"/>
                </a:solidFill>
                <a:latin typeface="Calibri"/>
              </a:rPr>
              <a:t>!!! </a:t>
            </a:r>
            <a:r>
              <a:rPr sz="1400" b="0" i="0" dirty="0">
                <a:solidFill>
                  <a:srgbClr val="5A5F73"/>
                </a:solidFill>
                <a:latin typeface="Calibri"/>
              </a:rPr>
              <a:t>the literal text</a:t>
            </a:r>
            <a:r>
              <a:rPr lang="en-US" sz="1400" b="0" i="0" dirty="0">
                <a:solidFill>
                  <a:srgbClr val="5A5F73"/>
                </a:solidFill>
                <a:latin typeface="Calibri"/>
              </a:rPr>
              <a:t> !!!</a:t>
            </a:r>
            <a:endParaRPr sz="1400" b="0" i="0" dirty="0">
              <a:solidFill>
                <a:srgbClr val="5A5F73"/>
              </a:solidFill>
              <a:latin typeface="Calibri"/>
            </a:endParaRPr>
          </a:p>
        </p:txBody>
      </p:sp>
      <p:sp>
        <p:nvSpPr>
          <p:cNvPr id="7" name="Oval 6"/>
          <p:cNvSpPr/>
          <p:nvPr/>
        </p:nvSpPr>
        <p:spPr>
          <a:xfrm>
            <a:off x="640080" y="3977639"/>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600" b="1" i="0">
                <a:solidFill>
                  <a:srgbClr val="FFFFFF"/>
                </a:solidFill>
                <a:latin typeface="Calibri"/>
              </a:rPr>
              <a:t>3</a:t>
            </a:r>
          </a:p>
        </p:txBody>
      </p:sp>
      <p:sp>
        <p:nvSpPr>
          <p:cNvPr id="8" name="TextBox 7"/>
          <p:cNvSpPr txBox="1"/>
          <p:nvPr/>
        </p:nvSpPr>
        <p:spPr>
          <a:xfrm>
            <a:off x="1554480" y="3931920"/>
            <a:ext cx="9966960" cy="625812"/>
          </a:xfrm>
          <a:prstGeom prst="rect">
            <a:avLst/>
          </a:prstGeom>
          <a:noFill/>
        </p:spPr>
        <p:txBody>
          <a:bodyPr wrap="square">
            <a:spAutoFit/>
          </a:bodyPr>
          <a:lstStyle/>
          <a:p>
            <a:pPr algn="l">
              <a:spcAft>
                <a:spcPts val="200"/>
              </a:spcAft>
            </a:pPr>
            <a:r>
              <a:rPr sz="1900" b="1" i="0" dirty="0">
                <a:solidFill>
                  <a:srgbClr val="1E2761"/>
                </a:solidFill>
                <a:latin typeface="Calibri"/>
              </a:rPr>
              <a:t>What you did with it</a:t>
            </a:r>
            <a:r>
              <a:rPr lang="en-US" sz="1900" b="1" i="0" dirty="0">
                <a:solidFill>
                  <a:srgbClr val="1E2761"/>
                </a:solidFill>
                <a:latin typeface="Calibri"/>
              </a:rPr>
              <a:t> </a:t>
            </a:r>
            <a:endParaRPr sz="1900" b="1" i="0" dirty="0">
              <a:solidFill>
                <a:srgbClr val="1E2761"/>
              </a:solidFill>
              <a:latin typeface="Calibri"/>
            </a:endParaRPr>
          </a:p>
          <a:p>
            <a:pPr algn="l">
              <a:spcAft>
                <a:spcPts val="0"/>
              </a:spcAft>
            </a:pPr>
            <a:r>
              <a:rPr sz="1400" b="0" i="0" dirty="0">
                <a:solidFill>
                  <a:srgbClr val="5A5F73"/>
                </a:solidFill>
                <a:latin typeface="Calibri"/>
              </a:rPr>
              <a:t>Used as-is / edited / rejected — and why. This is </a:t>
            </a:r>
            <a:r>
              <a:rPr lang="en-US" sz="1400" b="0" i="0" dirty="0">
                <a:solidFill>
                  <a:srgbClr val="5A5F73"/>
                </a:solidFill>
                <a:latin typeface="Calibri"/>
              </a:rPr>
              <a:t>the basis for your grade</a:t>
            </a:r>
            <a:endParaRPr sz="1400" b="0" i="0" dirty="0">
              <a:solidFill>
                <a:srgbClr val="5A5F73"/>
              </a:solidFill>
              <a:latin typeface="Calibri"/>
            </a:endParaRPr>
          </a:p>
        </p:txBody>
      </p:sp>
      <p:sp>
        <p:nvSpPr>
          <p:cNvPr id="9" name="Oval 8"/>
          <p:cNvSpPr/>
          <p:nvPr/>
        </p:nvSpPr>
        <p:spPr>
          <a:xfrm>
            <a:off x="640080" y="5166359"/>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2600" b="1" i="0">
                <a:solidFill>
                  <a:srgbClr val="FFFFFF"/>
                </a:solidFill>
                <a:latin typeface="Calibri"/>
              </a:rPr>
              <a:t>4</a:t>
            </a:r>
          </a:p>
        </p:txBody>
      </p:sp>
      <p:sp>
        <p:nvSpPr>
          <p:cNvPr id="10" name="TextBox 9"/>
          <p:cNvSpPr txBox="1"/>
          <p:nvPr/>
        </p:nvSpPr>
        <p:spPr>
          <a:xfrm>
            <a:off x="1554480" y="5120640"/>
            <a:ext cx="9966960" cy="1051560"/>
          </a:xfrm>
          <a:prstGeom prst="rect">
            <a:avLst/>
          </a:prstGeom>
          <a:noFill/>
        </p:spPr>
        <p:txBody>
          <a:bodyPr wrap="square">
            <a:spAutoFit/>
          </a:bodyPr>
          <a:lstStyle/>
          <a:p>
            <a:pPr algn="l">
              <a:spcAft>
                <a:spcPts val="200"/>
              </a:spcAft>
            </a:pPr>
            <a:r>
              <a:rPr sz="1900" b="1" i="0" dirty="0">
                <a:solidFill>
                  <a:srgbClr val="1E2761"/>
                </a:solidFill>
                <a:latin typeface="Calibri"/>
              </a:rPr>
              <a:t>One claim you checked</a:t>
            </a:r>
          </a:p>
          <a:p>
            <a:pPr algn="l">
              <a:spcAft>
                <a:spcPts val="0"/>
              </a:spcAft>
            </a:pPr>
            <a:r>
              <a:rPr sz="1400" b="0" i="0" dirty="0">
                <a:solidFill>
                  <a:srgbClr val="5A5F73"/>
                </a:solidFill>
                <a:latin typeface="Calibri"/>
              </a:rPr>
              <a:t>Pick one thing the AI said, check it against a real source, and record the result.</a:t>
            </a:r>
          </a:p>
        </p:txBody>
      </p:sp>
      <p:sp>
        <p:nvSpPr>
          <p:cNvPr id="11" name="TextBox 10"/>
          <p:cNvSpPr txBox="1"/>
          <p:nvPr/>
        </p:nvSpPr>
        <p:spPr>
          <a:xfrm>
            <a:off x="457200" y="6446520"/>
            <a:ext cx="11274552" cy="320040"/>
          </a:xfrm>
          <a:prstGeom prst="rect">
            <a:avLst/>
          </a:prstGeom>
          <a:noFill/>
        </p:spPr>
        <p:txBody>
          <a:bodyPr wrap="square">
            <a:spAutoFit/>
          </a:bodyPr>
          <a:lstStyle/>
          <a:p>
            <a:pPr algn="l">
              <a:spcAft>
                <a:spcPts val="600"/>
              </a:spcAft>
            </a:pPr>
            <a:r>
              <a:rPr sz="1000" b="0" i="0">
                <a:solidFill>
                  <a:srgbClr val="5A5F73"/>
                </a:solidFill>
                <a:latin typeface="Calibri"/>
              </a:rPr>
              <a:t>KSE Sociology — AI-Use Log Guide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822960"/>
          </a:xfrm>
          <a:prstGeom prst="rect">
            <a:avLst/>
          </a:prstGeom>
          <a:noFill/>
        </p:spPr>
        <p:txBody>
          <a:bodyPr wrap="square">
            <a:spAutoFit/>
          </a:bodyPr>
          <a:lstStyle/>
          <a:p>
            <a:pPr algn="l">
              <a:spcAft>
                <a:spcPts val="600"/>
              </a:spcAft>
            </a:pPr>
            <a:r>
              <a:rPr sz="3000" b="1" i="0">
                <a:solidFill>
                  <a:srgbClr val="1E2761"/>
                </a:solidFill>
                <a:latin typeface="Cambria"/>
              </a:rPr>
              <a:t>Extracting your log — ChatGPT &amp; Gemini</a:t>
            </a:r>
          </a:p>
        </p:txBody>
      </p:sp>
      <p:sp>
        <p:nvSpPr>
          <p:cNvPr id="3" name="Rounded Rectangle 2"/>
          <p:cNvSpPr/>
          <p:nvPr/>
        </p:nvSpPr>
        <p:spPr>
          <a:xfrm>
            <a:off x="640080" y="1554480"/>
            <a:ext cx="5212080" cy="4480560"/>
          </a:xfrm>
          <a:prstGeom prst="roundRect">
            <a:avLst>
              <a:gd name="adj" fmla="val 6000"/>
            </a:avLst>
          </a:prstGeom>
          <a:solidFill>
            <a:srgbClr val="F3F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783080"/>
            <a:ext cx="4663440" cy="457200"/>
          </a:xfrm>
          <a:prstGeom prst="rect">
            <a:avLst/>
          </a:prstGeom>
          <a:noFill/>
        </p:spPr>
        <p:txBody>
          <a:bodyPr wrap="square">
            <a:spAutoFit/>
          </a:bodyPr>
          <a:lstStyle/>
          <a:p>
            <a:pPr algn="l">
              <a:spcAft>
                <a:spcPts val="600"/>
              </a:spcAft>
            </a:pPr>
            <a:r>
              <a:rPr sz="1900" b="1" i="0">
                <a:solidFill>
                  <a:srgbClr val="1E2761"/>
                </a:solidFill>
                <a:latin typeface="Calibri"/>
              </a:rPr>
              <a:t>If you see a Share button</a:t>
            </a:r>
          </a:p>
        </p:txBody>
      </p:sp>
      <p:sp>
        <p:nvSpPr>
          <p:cNvPr id="5" name="TextBox 4"/>
          <p:cNvSpPr txBox="1"/>
          <p:nvPr/>
        </p:nvSpPr>
        <p:spPr>
          <a:xfrm>
            <a:off x="914400" y="2331720"/>
            <a:ext cx="4663440" cy="3474720"/>
          </a:xfrm>
          <a:prstGeom prst="rect">
            <a:avLst/>
          </a:prstGeom>
          <a:noFill/>
        </p:spPr>
        <p:txBody>
          <a:bodyPr wrap="square">
            <a:spAutoFit/>
          </a:bodyPr>
          <a:lstStyle/>
          <a:p>
            <a:pPr marL="228600" indent="-228600" algn="l">
              <a:spcAft>
                <a:spcPts val="1200"/>
              </a:spcAft>
              <a:buFont typeface="Calibri"/>
              <a:buChar char="•"/>
            </a:pPr>
            <a:r>
              <a:rPr sz="1600" b="0" i="0">
                <a:solidFill>
                  <a:srgbClr val="1E2761"/>
                </a:solidFill>
                <a:latin typeface="Calibri"/>
              </a:rPr>
              <a:t>Open the chat you used for the assignment</a:t>
            </a:r>
          </a:p>
          <a:p>
            <a:pPr marL="228600" indent="-228600" algn="l">
              <a:spcAft>
                <a:spcPts val="1200"/>
              </a:spcAft>
              <a:buFont typeface="Calibri"/>
              <a:buChar char="•"/>
            </a:pPr>
            <a:r>
              <a:rPr sz="1600" b="0" i="0">
                <a:solidFill>
                  <a:srgbClr val="1E2761"/>
                </a:solidFill>
                <a:latin typeface="Calibri"/>
              </a:rPr>
              <a:t>Click Share / Export (or the three-dot menu)</a:t>
            </a:r>
          </a:p>
          <a:p>
            <a:pPr marL="228600" indent="-228600" algn="l">
              <a:spcAft>
                <a:spcPts val="1200"/>
              </a:spcAft>
              <a:buFont typeface="Calibri"/>
              <a:buChar char="•"/>
            </a:pPr>
            <a:r>
              <a:rPr sz="1600" b="0" i="0">
                <a:solidFill>
                  <a:srgbClr val="1E2761"/>
                </a:solidFill>
                <a:latin typeface="Calibri"/>
              </a:rPr>
              <a:t>Copy the share link, or export as text/PDF</a:t>
            </a:r>
          </a:p>
          <a:p>
            <a:pPr marL="228600" indent="-228600" algn="l">
              <a:spcAft>
                <a:spcPts val="1200"/>
              </a:spcAft>
              <a:buFont typeface="Calibri"/>
              <a:buChar char="•"/>
            </a:pPr>
            <a:r>
              <a:rPr sz="1600" b="0" i="0">
                <a:solidFill>
                  <a:srgbClr val="1E2761"/>
                </a:solidFill>
                <a:latin typeface="Calibri"/>
              </a:rPr>
              <a:t>Paste the link, or attach the export, in your log</a:t>
            </a:r>
          </a:p>
        </p:txBody>
      </p:sp>
      <p:sp>
        <p:nvSpPr>
          <p:cNvPr id="6" name="Rounded Rectangle 5"/>
          <p:cNvSpPr/>
          <p:nvPr/>
        </p:nvSpPr>
        <p:spPr>
          <a:xfrm>
            <a:off x="6309360" y="1554480"/>
            <a:ext cx="5212080" cy="4480560"/>
          </a:xfrm>
          <a:prstGeom prst="roundRect">
            <a:avLst>
              <a:gd name="adj" fmla="val 6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0" y="1783080"/>
            <a:ext cx="4663440" cy="457200"/>
          </a:xfrm>
          <a:prstGeom prst="rect">
            <a:avLst/>
          </a:prstGeom>
          <a:noFill/>
        </p:spPr>
        <p:txBody>
          <a:bodyPr wrap="square">
            <a:spAutoFit/>
          </a:bodyPr>
          <a:lstStyle/>
          <a:p>
            <a:pPr algn="l">
              <a:spcAft>
                <a:spcPts val="600"/>
              </a:spcAft>
            </a:pPr>
            <a:r>
              <a:rPr sz="1900" b="1" i="0">
                <a:solidFill>
                  <a:srgbClr val="1E2761"/>
                </a:solidFill>
                <a:latin typeface="Calibri"/>
              </a:rPr>
              <a:t>If your tier has no Share button</a:t>
            </a:r>
          </a:p>
        </p:txBody>
      </p:sp>
      <p:sp>
        <p:nvSpPr>
          <p:cNvPr id="8" name="TextBox 7"/>
          <p:cNvSpPr txBox="1"/>
          <p:nvPr/>
        </p:nvSpPr>
        <p:spPr>
          <a:xfrm>
            <a:off x="6583680" y="2331720"/>
            <a:ext cx="4663440" cy="2185214"/>
          </a:xfrm>
          <a:prstGeom prst="rect">
            <a:avLst/>
          </a:prstGeom>
          <a:noFill/>
        </p:spPr>
        <p:txBody>
          <a:bodyPr wrap="square">
            <a:spAutoFit/>
          </a:bodyPr>
          <a:lstStyle/>
          <a:p>
            <a:pPr marL="228600" indent="-228600" algn="l">
              <a:spcAft>
                <a:spcPts val="1200"/>
              </a:spcAft>
              <a:buFont typeface="Calibri"/>
              <a:buChar char="•"/>
            </a:pPr>
            <a:r>
              <a:rPr sz="1600" b="0" i="0" dirty="0">
                <a:solidFill>
                  <a:srgbClr val="1E2761"/>
                </a:solidFill>
                <a:latin typeface="Calibri"/>
              </a:rPr>
              <a:t>That's completely fine — no paid plan required</a:t>
            </a:r>
          </a:p>
          <a:p>
            <a:pPr marL="228600" indent="-228600" algn="l">
              <a:spcAft>
                <a:spcPts val="1200"/>
              </a:spcAft>
              <a:buFont typeface="Calibri"/>
              <a:buChar char="•"/>
            </a:pPr>
            <a:r>
              <a:rPr sz="1600" b="0" i="0" dirty="0">
                <a:solidFill>
                  <a:srgbClr val="1E2761"/>
                </a:solidFill>
                <a:latin typeface="Calibri"/>
              </a:rPr>
              <a:t>Select and copy your prompt, paste into the log</a:t>
            </a:r>
          </a:p>
          <a:p>
            <a:pPr marL="228600" indent="-228600" algn="l">
              <a:spcAft>
                <a:spcPts val="1200"/>
              </a:spcAft>
              <a:buFont typeface="Calibri"/>
              <a:buChar char="•"/>
            </a:pPr>
            <a:r>
              <a:rPr sz="1600" b="0" i="0" dirty="0">
                <a:solidFill>
                  <a:srgbClr val="1E2761"/>
                </a:solidFill>
                <a:latin typeface="Calibri"/>
              </a:rPr>
              <a:t>Select and copy the AI's reply, paste it too</a:t>
            </a:r>
          </a:p>
          <a:p>
            <a:pPr marL="228600" indent="-228600" algn="l">
              <a:spcAft>
                <a:spcPts val="1200"/>
              </a:spcAft>
              <a:buFont typeface="Calibri"/>
              <a:buChar char="•"/>
            </a:pPr>
            <a:r>
              <a:rPr sz="1600" b="0" i="0" dirty="0">
                <a:solidFill>
                  <a:srgbClr val="1E2761"/>
                </a:solidFill>
                <a:latin typeface="Calibri"/>
              </a:rPr>
              <a:t>Long reply? Paste the relevant part, summarize the rest yourself</a:t>
            </a:r>
            <a:endParaRPr lang="en-US" sz="1600" b="0" i="0" dirty="0">
              <a:solidFill>
                <a:srgbClr val="1E2761"/>
              </a:solidFill>
              <a:latin typeface="Calibri"/>
            </a:endParaRPr>
          </a:p>
          <a:p>
            <a:pPr marL="228600" indent="-228600" algn="l">
              <a:spcAft>
                <a:spcPts val="1200"/>
              </a:spcAft>
              <a:buFont typeface="Calibri"/>
              <a:buChar char="•"/>
            </a:pPr>
            <a:r>
              <a:rPr lang="en-UA" sz="1600" dirty="0">
                <a:solidFill>
                  <a:srgbClr val="1E2761"/>
                </a:solidFill>
                <a:latin typeface="Calibri"/>
              </a:rPr>
              <a:t>Ask your AI to produce LOG!</a:t>
            </a:r>
            <a:endParaRPr sz="1600" b="0" i="0" dirty="0">
              <a:solidFill>
                <a:srgbClr val="1E2761"/>
              </a:solidFill>
              <a:latin typeface="Calibri"/>
            </a:endParaRPr>
          </a:p>
        </p:txBody>
      </p:sp>
      <p:sp>
        <p:nvSpPr>
          <p:cNvPr id="9" name="TextBox 8"/>
          <p:cNvSpPr txBox="1"/>
          <p:nvPr/>
        </p:nvSpPr>
        <p:spPr>
          <a:xfrm>
            <a:off x="457200" y="6446520"/>
            <a:ext cx="11274552" cy="320040"/>
          </a:xfrm>
          <a:prstGeom prst="rect">
            <a:avLst/>
          </a:prstGeom>
          <a:noFill/>
        </p:spPr>
        <p:txBody>
          <a:bodyPr wrap="square">
            <a:spAutoFit/>
          </a:bodyPr>
          <a:lstStyle/>
          <a:p>
            <a:pPr algn="l">
              <a:spcAft>
                <a:spcPts val="600"/>
              </a:spcAft>
            </a:pPr>
            <a:r>
              <a:rPr sz="1000" b="0" i="0">
                <a:solidFill>
                  <a:srgbClr val="5A5F73"/>
                </a:solidFill>
                <a:latin typeface="Calibri"/>
              </a:rPr>
              <a:t>KSE Sociology — AI-Use Log Guide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822960"/>
          </a:xfrm>
          <a:prstGeom prst="rect">
            <a:avLst/>
          </a:prstGeom>
          <a:noFill/>
        </p:spPr>
        <p:txBody>
          <a:bodyPr wrap="square">
            <a:spAutoFit/>
          </a:bodyPr>
          <a:lstStyle/>
          <a:p>
            <a:pPr algn="l">
              <a:spcAft>
                <a:spcPts val="600"/>
              </a:spcAft>
            </a:pPr>
            <a:r>
              <a:rPr sz="3000" b="1" i="0">
                <a:solidFill>
                  <a:srgbClr val="1E2761"/>
                </a:solidFill>
                <a:latin typeface="Cambria"/>
              </a:rPr>
              <a:t>Extracting your log — Claude</a:t>
            </a:r>
          </a:p>
        </p:txBody>
      </p:sp>
      <p:sp>
        <p:nvSpPr>
          <p:cNvPr id="3" name="TextBox 2"/>
          <p:cNvSpPr txBox="1"/>
          <p:nvPr/>
        </p:nvSpPr>
        <p:spPr>
          <a:xfrm>
            <a:off x="640080" y="1645920"/>
            <a:ext cx="10881360" cy="4206240"/>
          </a:xfrm>
          <a:prstGeom prst="rect">
            <a:avLst/>
          </a:prstGeom>
          <a:noFill/>
        </p:spPr>
        <p:txBody>
          <a:bodyPr wrap="square">
            <a:spAutoFit/>
          </a:bodyPr>
          <a:lstStyle/>
          <a:p>
            <a:pPr marL="228600" indent="-228600" algn="l">
              <a:spcAft>
                <a:spcPts val="1800"/>
              </a:spcAft>
              <a:buFont typeface="Calibri"/>
              <a:buChar char="•"/>
            </a:pPr>
            <a:r>
              <a:rPr sz="1800" b="0" i="0">
                <a:solidFill>
                  <a:srgbClr val="1E2761"/>
                </a:solidFill>
                <a:latin typeface="Calibri"/>
              </a:rPr>
              <a:t>Free tier works exactly the same way — nothing here needs a subscription.</a:t>
            </a:r>
          </a:p>
          <a:p>
            <a:pPr marL="228600" indent="-228600" algn="l">
              <a:spcAft>
                <a:spcPts val="1800"/>
              </a:spcAft>
              <a:buFont typeface="Calibri"/>
              <a:buChar char="•"/>
            </a:pPr>
            <a:r>
              <a:rPr sz="1800" b="0" i="0">
                <a:solidFill>
                  <a:srgbClr val="1E2761"/>
                </a:solidFill>
                <a:latin typeface="Calibri"/>
              </a:rPr>
              <a:t>Open the conversation you used for the assignment.</a:t>
            </a:r>
          </a:p>
          <a:p>
            <a:pPr marL="228600" indent="-228600" algn="l">
              <a:spcAft>
                <a:spcPts val="1800"/>
              </a:spcAft>
              <a:buFont typeface="Calibri"/>
              <a:buChar char="•"/>
            </a:pPr>
            <a:r>
              <a:rPr sz="1800" b="0" i="0">
                <a:solidFill>
                  <a:srgbClr val="1E2761"/>
                </a:solidFill>
                <a:latin typeface="Calibri"/>
              </a:rPr>
              <a:t>Use the “Share” icon at the top of the chat if available, and copy the link — or just select the prompt and reply text directly from the screen.</a:t>
            </a:r>
          </a:p>
          <a:p>
            <a:pPr marL="228600" indent="-228600" algn="l">
              <a:spcAft>
                <a:spcPts val="1800"/>
              </a:spcAft>
              <a:buFont typeface="Calibri"/>
              <a:buChar char="•"/>
            </a:pPr>
            <a:r>
              <a:rPr sz="1800" b="0" i="0">
                <a:solidFill>
                  <a:srgbClr val="1E2761"/>
                </a:solidFill>
                <a:latin typeface="Calibri"/>
              </a:rPr>
              <a:t>Copy-paste both your prompt and Claude's reply into the log template.</a:t>
            </a:r>
          </a:p>
          <a:p>
            <a:pPr marL="228600" indent="-228600" algn="l">
              <a:spcAft>
                <a:spcPts val="1800"/>
              </a:spcAft>
              <a:buFont typeface="Calibri"/>
              <a:buChar char="•"/>
            </a:pPr>
            <a:r>
              <a:rPr sz="1800" b="0" i="0">
                <a:solidFill>
                  <a:srgbClr val="1E2761"/>
                </a:solidFill>
                <a:latin typeface="Calibri"/>
              </a:rPr>
              <a:t>Same rule as every tool: the prompt must be verbatim, not paraphrased.</a:t>
            </a:r>
          </a:p>
        </p:txBody>
      </p:sp>
      <p:sp>
        <p:nvSpPr>
          <p:cNvPr id="4" name="TextBox 3"/>
          <p:cNvSpPr txBox="1"/>
          <p:nvPr/>
        </p:nvSpPr>
        <p:spPr>
          <a:xfrm>
            <a:off x="457200" y="6446520"/>
            <a:ext cx="11274552" cy="320040"/>
          </a:xfrm>
          <a:prstGeom prst="rect">
            <a:avLst/>
          </a:prstGeom>
          <a:noFill/>
        </p:spPr>
        <p:txBody>
          <a:bodyPr wrap="square">
            <a:spAutoFit/>
          </a:bodyPr>
          <a:lstStyle/>
          <a:p>
            <a:pPr algn="l">
              <a:spcAft>
                <a:spcPts val="600"/>
              </a:spcAft>
            </a:pPr>
            <a:r>
              <a:rPr sz="1000" b="0" i="0">
                <a:solidFill>
                  <a:srgbClr val="5A5F73"/>
                </a:solidFill>
                <a:latin typeface="Calibri"/>
              </a:rPr>
              <a:t>KSE Sociology — AI-Use Log Guide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822960"/>
          </a:xfrm>
          <a:prstGeom prst="rect">
            <a:avLst/>
          </a:prstGeom>
          <a:noFill/>
        </p:spPr>
        <p:txBody>
          <a:bodyPr wrap="square">
            <a:spAutoFit/>
          </a:bodyPr>
          <a:lstStyle/>
          <a:p>
            <a:pPr algn="l">
              <a:spcAft>
                <a:spcPts val="600"/>
              </a:spcAft>
            </a:pPr>
            <a:r>
              <a:rPr sz="3200" b="1" i="0">
                <a:solidFill>
                  <a:srgbClr val="FFFFFF"/>
                </a:solidFill>
                <a:latin typeface="Cambria"/>
              </a:rPr>
              <a:t>A worked example</a:t>
            </a:r>
          </a:p>
        </p:txBody>
      </p:sp>
      <p:sp>
        <p:nvSpPr>
          <p:cNvPr id="3" name="Rounded Rectangle 2"/>
          <p:cNvSpPr/>
          <p:nvPr/>
        </p:nvSpPr>
        <p:spPr>
          <a:xfrm>
            <a:off x="640080" y="1463040"/>
            <a:ext cx="10881360" cy="4846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783080"/>
            <a:ext cx="10149840" cy="1954381"/>
          </a:xfrm>
          <a:prstGeom prst="rect">
            <a:avLst/>
          </a:prstGeom>
          <a:noFill/>
        </p:spPr>
        <p:txBody>
          <a:bodyPr wrap="square">
            <a:spAutoFit/>
          </a:bodyPr>
          <a:lstStyle/>
          <a:p>
            <a:pPr algn="l">
              <a:spcAft>
                <a:spcPts val="1000"/>
              </a:spcAft>
            </a:pPr>
            <a:r>
              <a:rPr sz="1600" b="1" i="0" dirty="0">
                <a:solidFill>
                  <a:srgbClr val="1E2761"/>
                </a:solidFill>
                <a:latin typeface="Calibri"/>
              </a:rPr>
              <a:t>Tool: Claude (free tier), 2026-09-20</a:t>
            </a:r>
          </a:p>
          <a:p>
            <a:pPr algn="l">
              <a:spcAft>
                <a:spcPts val="1000"/>
              </a:spcAft>
            </a:pPr>
            <a:r>
              <a:rPr sz="1600" b="0" i="0" dirty="0">
                <a:solidFill>
                  <a:srgbClr val="1E2761"/>
                </a:solidFill>
                <a:latin typeface="Calibri"/>
              </a:rPr>
              <a:t>Prompt: “</a:t>
            </a:r>
            <a:r>
              <a:rPr lang="en-GB" sz="1600" b="0" i="0" dirty="0">
                <a:solidFill>
                  <a:srgbClr val="1E2761"/>
                </a:solidFill>
                <a:latin typeface="Calibri"/>
              </a:rPr>
              <a:t>Create a tool to test Durkheim's theory in EU in the 21 century</a:t>
            </a:r>
            <a:r>
              <a:rPr sz="1600" b="0" i="0" dirty="0">
                <a:solidFill>
                  <a:srgbClr val="1E2761"/>
                </a:solidFill>
                <a:latin typeface="Calibri"/>
              </a:rPr>
              <a:t>”</a:t>
            </a:r>
          </a:p>
          <a:p>
            <a:pPr>
              <a:spcAft>
                <a:spcPts val="1000"/>
              </a:spcAft>
            </a:pPr>
            <a:r>
              <a:rPr sz="1600" b="0" i="0" dirty="0">
                <a:solidFill>
                  <a:srgbClr val="1E2761"/>
                </a:solidFill>
                <a:latin typeface="Calibri"/>
              </a:rPr>
              <a:t>What I did: </a:t>
            </a:r>
            <a:r>
              <a:rPr lang="en-GB" sz="1600" dirty="0">
                <a:solidFill>
                  <a:srgbClr val="1E2761"/>
                </a:solidFill>
              </a:rPr>
              <a:t>Durkheim used data on suicide to test his theory, we downloaded the same data for the 21 century and created correlations with data on religion in the same regions, and mapped it. </a:t>
            </a:r>
          </a:p>
          <a:p>
            <a:pPr>
              <a:spcAft>
                <a:spcPts val="1000"/>
              </a:spcAft>
            </a:pPr>
            <a:r>
              <a:rPr sz="1600" i="0" dirty="0">
                <a:solidFill>
                  <a:srgbClr val="1E6B3A"/>
                </a:solidFill>
                <a:latin typeface="Calibri"/>
              </a:rPr>
              <a:t>Claim checked: AI said Durkheim coined “anomie” in The Division of </a:t>
            </a:r>
            <a:r>
              <a:rPr sz="1600" i="0" dirty="0" err="1">
                <a:solidFill>
                  <a:srgbClr val="1E6B3A"/>
                </a:solidFill>
                <a:latin typeface="Calibri"/>
              </a:rPr>
              <a:t>Labour</a:t>
            </a:r>
            <a:r>
              <a:rPr sz="1600" i="0" dirty="0">
                <a:solidFill>
                  <a:srgbClr val="1E6B3A"/>
                </a:solidFill>
                <a:latin typeface="Calibri"/>
              </a:rPr>
              <a:t> in Society (1893). Checked against the assigned reading</a:t>
            </a:r>
            <a:r>
              <a:rPr lang="en-US" sz="1600" i="0" dirty="0">
                <a:solidFill>
                  <a:srgbClr val="1E6B3A"/>
                </a:solidFill>
                <a:latin typeface="Calibri"/>
              </a:rPr>
              <a:t>, </a:t>
            </a:r>
            <a:r>
              <a:rPr sz="1600" i="0" dirty="0">
                <a:solidFill>
                  <a:srgbClr val="1E6B3A"/>
                </a:solidFill>
                <a:latin typeface="Calibri"/>
              </a:rPr>
              <a:t>correct</a:t>
            </a:r>
            <a:r>
              <a:rPr lang="en-US" sz="1600" dirty="0">
                <a:solidFill>
                  <a:srgbClr val="1E6B3A"/>
                </a:solidFill>
                <a:latin typeface="Calibri"/>
              </a:rPr>
              <a:t>.</a:t>
            </a:r>
            <a:endParaRPr sz="1600" i="0" dirty="0">
              <a:solidFill>
                <a:srgbClr val="1E6B3A"/>
              </a:solidFill>
              <a:latin typeface="Calibri"/>
            </a:endParaRPr>
          </a:p>
        </p:txBody>
      </p:sp>
      <p:sp>
        <p:nvSpPr>
          <p:cNvPr id="5" name="TextBox 4"/>
          <p:cNvSpPr txBox="1"/>
          <p:nvPr/>
        </p:nvSpPr>
        <p:spPr>
          <a:xfrm>
            <a:off x="457200" y="6446520"/>
            <a:ext cx="11274552" cy="320040"/>
          </a:xfrm>
          <a:prstGeom prst="rect">
            <a:avLst/>
          </a:prstGeom>
          <a:noFill/>
        </p:spPr>
        <p:txBody>
          <a:bodyPr wrap="square">
            <a:spAutoFit/>
          </a:bodyPr>
          <a:lstStyle/>
          <a:p>
            <a:pPr algn="l">
              <a:spcAft>
                <a:spcPts val="600"/>
              </a:spcAft>
            </a:pPr>
            <a:r>
              <a:rPr sz="1000" b="0" i="0">
                <a:solidFill>
                  <a:srgbClr val="CADCFC"/>
                </a:solidFill>
                <a:latin typeface="Calibri"/>
              </a:rPr>
              <a:t>KSE Sociology — AI-Use Log Guide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822960"/>
          </a:xfrm>
          <a:prstGeom prst="rect">
            <a:avLst/>
          </a:prstGeom>
          <a:noFill/>
        </p:spPr>
        <p:txBody>
          <a:bodyPr wrap="square">
            <a:spAutoFit/>
          </a:bodyPr>
          <a:lstStyle/>
          <a:p>
            <a:pPr algn="l">
              <a:spcAft>
                <a:spcPts val="600"/>
              </a:spcAft>
            </a:pPr>
            <a:r>
              <a:rPr sz="3200" b="1" i="0">
                <a:solidFill>
                  <a:srgbClr val="1E2761"/>
                </a:solidFill>
                <a:latin typeface="Cambria"/>
              </a:rPr>
              <a:t>Where and how to submit</a:t>
            </a:r>
          </a:p>
        </p:txBody>
      </p:sp>
      <p:sp>
        <p:nvSpPr>
          <p:cNvPr id="3" name="Rounded Rectangle 2"/>
          <p:cNvSpPr/>
          <p:nvPr/>
        </p:nvSpPr>
        <p:spPr>
          <a:xfrm>
            <a:off x="640080" y="1554480"/>
            <a:ext cx="5212080" cy="4297680"/>
          </a:xfrm>
          <a:prstGeom prst="roundRect">
            <a:avLst>
              <a:gd name="adj" fmla="val 6000"/>
            </a:avLst>
          </a:prstGeom>
          <a:solidFill>
            <a:srgbClr val="F3F6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783080"/>
            <a:ext cx="4663440" cy="548640"/>
          </a:xfrm>
          <a:prstGeom prst="rect">
            <a:avLst/>
          </a:prstGeom>
          <a:noFill/>
        </p:spPr>
        <p:txBody>
          <a:bodyPr wrap="square">
            <a:spAutoFit/>
          </a:bodyPr>
          <a:lstStyle/>
          <a:p>
            <a:pPr algn="l">
              <a:spcAft>
                <a:spcPts val="600"/>
              </a:spcAft>
            </a:pPr>
            <a:r>
              <a:rPr sz="1900" b="1" i="0">
                <a:solidFill>
                  <a:srgbClr val="1E2761"/>
                </a:solidFill>
                <a:latin typeface="Calibri"/>
              </a:rPr>
              <a:t>Weekly practicum labs</a:t>
            </a:r>
          </a:p>
        </p:txBody>
      </p:sp>
      <p:sp>
        <p:nvSpPr>
          <p:cNvPr id="5" name="TextBox 4"/>
          <p:cNvSpPr txBox="1"/>
          <p:nvPr/>
        </p:nvSpPr>
        <p:spPr>
          <a:xfrm>
            <a:off x="914400" y="2377440"/>
            <a:ext cx="4663440" cy="1436291"/>
          </a:xfrm>
          <a:prstGeom prst="rect">
            <a:avLst/>
          </a:prstGeom>
          <a:noFill/>
        </p:spPr>
        <p:txBody>
          <a:bodyPr wrap="square">
            <a:spAutoFit/>
          </a:bodyPr>
          <a:lstStyle/>
          <a:p>
            <a:pPr marL="228600" indent="-228600" algn="l">
              <a:spcAft>
                <a:spcPts val="1400"/>
              </a:spcAft>
              <a:buFont typeface="Calibri"/>
              <a:buChar char="•"/>
            </a:pPr>
            <a:r>
              <a:rPr lang="en-US" sz="1600" dirty="0">
                <a:solidFill>
                  <a:srgbClr val="1E2761"/>
                </a:solidFill>
                <a:latin typeface="Calibri"/>
              </a:rPr>
              <a:t>Work in class</a:t>
            </a:r>
          </a:p>
          <a:p>
            <a:pPr marL="228600" indent="-228600" algn="l">
              <a:spcAft>
                <a:spcPts val="1400"/>
              </a:spcAft>
              <a:buFont typeface="Calibri"/>
              <a:buChar char="•"/>
            </a:pPr>
            <a:r>
              <a:rPr lang="en-US" sz="1600" b="0" i="0" dirty="0">
                <a:solidFill>
                  <a:srgbClr val="1E2761"/>
                </a:solidFill>
                <a:latin typeface="Calibri"/>
              </a:rPr>
              <a:t>Submit logs to the </a:t>
            </a:r>
            <a:r>
              <a:rPr lang="en-US" sz="1600" b="0" i="0" dirty="0" err="1">
                <a:solidFill>
                  <a:srgbClr val="1E2761"/>
                </a:solidFill>
                <a:latin typeface="Calibri"/>
              </a:rPr>
              <a:t>moodle</a:t>
            </a:r>
            <a:r>
              <a:rPr lang="en-US" sz="1600" dirty="0">
                <a:solidFill>
                  <a:srgbClr val="1E2761"/>
                </a:solidFill>
                <a:latin typeface="Calibri"/>
              </a:rPr>
              <a:t> one day before the next practicum session</a:t>
            </a:r>
          </a:p>
          <a:p>
            <a:pPr marL="228600" indent="-228600" algn="l">
              <a:spcAft>
                <a:spcPts val="1400"/>
              </a:spcAft>
              <a:buFont typeface="Calibri"/>
              <a:buChar char="•"/>
            </a:pPr>
            <a:r>
              <a:rPr lang="en-US" sz="1600" dirty="0">
                <a:solidFill>
                  <a:srgbClr val="1E2761"/>
                </a:solidFill>
                <a:latin typeface="Calibri"/>
              </a:rPr>
              <a:t>Discussion of the results</a:t>
            </a:r>
            <a:endParaRPr sz="1600" b="0" i="0" dirty="0">
              <a:solidFill>
                <a:srgbClr val="1E2761"/>
              </a:solidFill>
              <a:latin typeface="Calibri"/>
            </a:endParaRPr>
          </a:p>
        </p:txBody>
      </p:sp>
      <p:sp>
        <p:nvSpPr>
          <p:cNvPr id="6" name="Rounded Rectangle 5"/>
          <p:cNvSpPr/>
          <p:nvPr/>
        </p:nvSpPr>
        <p:spPr>
          <a:xfrm>
            <a:off x="6309360" y="1554480"/>
            <a:ext cx="5212080" cy="4297680"/>
          </a:xfrm>
          <a:prstGeom prst="roundRect">
            <a:avLst>
              <a:gd name="adj" fmla="val 6000"/>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0" y="1783080"/>
            <a:ext cx="4663440" cy="548640"/>
          </a:xfrm>
          <a:prstGeom prst="rect">
            <a:avLst/>
          </a:prstGeom>
          <a:noFill/>
        </p:spPr>
        <p:txBody>
          <a:bodyPr wrap="square">
            <a:spAutoFit/>
          </a:bodyPr>
          <a:lstStyle/>
          <a:p>
            <a:pPr algn="l">
              <a:spcAft>
                <a:spcPts val="600"/>
              </a:spcAft>
            </a:pPr>
            <a:r>
              <a:rPr sz="1900" b="1" i="0" dirty="0">
                <a:solidFill>
                  <a:srgbClr val="1E2761"/>
                </a:solidFill>
                <a:latin typeface="Calibri"/>
              </a:rPr>
              <a:t>Midterm &amp; final paper</a:t>
            </a:r>
          </a:p>
        </p:txBody>
      </p:sp>
      <p:sp>
        <p:nvSpPr>
          <p:cNvPr id="8" name="TextBox 7"/>
          <p:cNvSpPr txBox="1"/>
          <p:nvPr/>
        </p:nvSpPr>
        <p:spPr>
          <a:xfrm>
            <a:off x="6583680" y="2377440"/>
            <a:ext cx="4663440" cy="2108269"/>
          </a:xfrm>
          <a:prstGeom prst="rect">
            <a:avLst/>
          </a:prstGeom>
          <a:noFill/>
        </p:spPr>
        <p:txBody>
          <a:bodyPr wrap="square">
            <a:spAutoFit/>
          </a:bodyPr>
          <a:lstStyle/>
          <a:p>
            <a:pPr marL="228600" indent="-228600" algn="l">
              <a:spcAft>
                <a:spcPts val="1400"/>
              </a:spcAft>
              <a:buFont typeface="Calibri"/>
              <a:buChar char="•"/>
            </a:pPr>
            <a:r>
              <a:rPr lang="en-US" sz="1600" b="0" i="0" dirty="0">
                <a:solidFill>
                  <a:srgbClr val="1E2761"/>
                </a:solidFill>
                <a:latin typeface="Calibri"/>
              </a:rPr>
              <a:t>Final paper includes theory, literature review and gaps, project description</a:t>
            </a:r>
          </a:p>
          <a:p>
            <a:pPr marL="228600" indent="-228600" algn="l">
              <a:spcAft>
                <a:spcPts val="1400"/>
              </a:spcAft>
              <a:buFont typeface="Calibri"/>
              <a:buChar char="•"/>
            </a:pPr>
            <a:r>
              <a:rPr lang="en-US" sz="1600" dirty="0">
                <a:solidFill>
                  <a:srgbClr val="1E2761"/>
                </a:solidFill>
                <a:latin typeface="Calibri"/>
              </a:rPr>
              <a:t>Midterm is submitted as a log</a:t>
            </a:r>
          </a:p>
          <a:p>
            <a:pPr marL="228600" indent="-228600" algn="l">
              <a:spcAft>
                <a:spcPts val="1400"/>
              </a:spcAft>
              <a:buFont typeface="Calibri"/>
              <a:buChar char="•"/>
            </a:pPr>
            <a:r>
              <a:rPr lang="en-US" sz="1600" b="0" i="0" dirty="0">
                <a:solidFill>
                  <a:srgbClr val="1E2761"/>
                </a:solidFill>
                <a:latin typeface="Calibri"/>
              </a:rPr>
              <a:t>Final paper is submitted and presented with a project </a:t>
            </a:r>
          </a:p>
          <a:p>
            <a:pPr marL="228600" indent="-228600" algn="l">
              <a:spcAft>
                <a:spcPts val="1400"/>
              </a:spcAft>
              <a:buFont typeface="Calibri"/>
              <a:buChar char="•"/>
            </a:pPr>
            <a:r>
              <a:rPr lang="en-US" sz="1600" dirty="0">
                <a:solidFill>
                  <a:srgbClr val="1E2761"/>
                </a:solidFill>
                <a:latin typeface="Calibri"/>
              </a:rPr>
              <a:t>It is a group work (3-5 students)</a:t>
            </a:r>
            <a:endParaRPr sz="1600" b="0" i="0" dirty="0">
              <a:solidFill>
                <a:srgbClr val="1E2761"/>
              </a:solidFill>
              <a:latin typeface="Calibri"/>
            </a:endParaRPr>
          </a:p>
        </p:txBody>
      </p:sp>
      <p:sp>
        <p:nvSpPr>
          <p:cNvPr id="9" name="TextBox 8"/>
          <p:cNvSpPr txBox="1"/>
          <p:nvPr/>
        </p:nvSpPr>
        <p:spPr>
          <a:xfrm>
            <a:off x="457200" y="6446520"/>
            <a:ext cx="11274552" cy="320040"/>
          </a:xfrm>
          <a:prstGeom prst="rect">
            <a:avLst/>
          </a:prstGeom>
          <a:noFill/>
        </p:spPr>
        <p:txBody>
          <a:bodyPr wrap="square">
            <a:spAutoFit/>
          </a:bodyPr>
          <a:lstStyle/>
          <a:p>
            <a:pPr algn="l">
              <a:spcAft>
                <a:spcPts val="600"/>
              </a:spcAft>
            </a:pPr>
            <a:r>
              <a:rPr sz="1000" b="0" i="0">
                <a:solidFill>
                  <a:srgbClr val="5A5F73"/>
                </a:solidFill>
                <a:latin typeface="Calibri"/>
              </a:rPr>
              <a:t>KSE Sociology — AI-Use Log Guide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1480"/>
            <a:ext cx="10881360" cy="685800"/>
          </a:xfrm>
          <a:prstGeom prst="rect">
            <a:avLst/>
          </a:prstGeom>
          <a:noFill/>
        </p:spPr>
        <p:txBody>
          <a:bodyPr wrap="square">
            <a:spAutoFit/>
          </a:bodyPr>
          <a:lstStyle/>
          <a:p>
            <a:pPr algn="l">
              <a:spcAft>
                <a:spcPts val="400"/>
              </a:spcAft>
            </a:pPr>
            <a:r>
              <a:rPr sz="2800" b="1" i="0">
                <a:solidFill>
                  <a:srgbClr val="1E2761"/>
                </a:solidFill>
                <a:latin typeface="Cambria"/>
              </a:rPr>
              <a:t>Scoring depth and rigor — optional second pass</a:t>
            </a:r>
          </a:p>
        </p:txBody>
      </p:sp>
      <p:sp>
        <p:nvSpPr>
          <p:cNvPr id="3" name="TextBox 2"/>
          <p:cNvSpPr txBox="1"/>
          <p:nvPr/>
        </p:nvSpPr>
        <p:spPr>
          <a:xfrm>
            <a:off x="640080" y="1005840"/>
            <a:ext cx="10881360" cy="457200"/>
          </a:xfrm>
          <a:prstGeom prst="rect">
            <a:avLst/>
          </a:prstGeom>
          <a:noFill/>
        </p:spPr>
        <p:txBody>
          <a:bodyPr wrap="square">
            <a:spAutoFit/>
          </a:bodyPr>
          <a:lstStyle/>
          <a:p>
            <a:pPr algn="l">
              <a:spcAft>
                <a:spcPts val="400"/>
              </a:spcAft>
            </a:pPr>
            <a:r>
              <a:rPr sz="1400" b="0" i="1">
                <a:solidFill>
                  <a:srgbClr val="5A5F73"/>
                </a:solidFill>
                <a:latin typeface="Calibri"/>
              </a:rPr>
              <a:t>Use for capstone or thin-looking logs only — weekly practicum logs stay pass/fail.</a:t>
            </a:r>
          </a:p>
        </p:txBody>
      </p:sp>
      <p:graphicFrame>
        <p:nvGraphicFramePr>
          <p:cNvPr id="4" name="Table 3"/>
          <p:cNvGraphicFramePr>
            <a:graphicFrameLocks noGrp="1"/>
          </p:cNvGraphicFramePr>
          <p:nvPr/>
        </p:nvGraphicFramePr>
        <p:xfrm>
          <a:off x="640080" y="1600200"/>
          <a:ext cx="10881360" cy="41605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832104">
                <a:tc>
                  <a:txBody>
                    <a:bodyPr/>
                    <a:lstStyle/>
                    <a:p>
                      <a:pPr algn="l"/>
                      <a:r>
                        <a:rPr sz="1500" b="1" i="0">
                          <a:solidFill>
                            <a:srgbClr val="FFFFFF"/>
                          </a:solidFill>
                          <a:latin typeface="Cambria"/>
                        </a:rPr>
                        <a:t>Criterion</a:t>
                      </a:r>
                    </a:p>
                  </a:txBody>
                  <a:tcPr marL="127000" marR="127000" marT="76200" marB="76200" anchor="ctr">
                    <a:solidFill>
                      <a:srgbClr val="1E2761"/>
                    </a:solidFill>
                  </a:tcPr>
                </a:tc>
                <a:tc>
                  <a:txBody>
                    <a:bodyPr/>
                    <a:lstStyle/>
                    <a:p>
                      <a:pPr algn="l"/>
                      <a:r>
                        <a:rPr sz="1500" b="1" i="0">
                          <a:solidFill>
                            <a:srgbClr val="FFFFFF"/>
                          </a:solidFill>
                          <a:latin typeface="Cambria"/>
                        </a:rPr>
                        <a:t>9–10 looks like</a:t>
                      </a:r>
                    </a:p>
                  </a:txBody>
                  <a:tcPr marL="127000" marR="127000" marT="76200" marB="76200" anchor="ctr">
                    <a:solidFill>
                      <a:srgbClr val="1E2761"/>
                    </a:solidFill>
                  </a:tcPr>
                </a:tc>
                <a:tc>
                  <a:txBody>
                    <a:bodyPr/>
                    <a:lstStyle/>
                    <a:p>
                      <a:pPr algn="l"/>
                      <a:r>
                        <a:rPr sz="1500" b="1" i="0">
                          <a:solidFill>
                            <a:srgbClr val="FFFFFF"/>
                          </a:solidFill>
                          <a:latin typeface="Cambria"/>
                        </a:rPr>
                        <a:t>0–3 looks like</a:t>
                      </a:r>
                    </a:p>
                  </a:txBody>
                  <a:tcPr marL="127000" marR="127000" marT="76200" marB="76200" anchor="ctr">
                    <a:solidFill>
                      <a:srgbClr val="1E2761"/>
                    </a:solidFill>
                  </a:tcPr>
                </a:tc>
                <a:extLst>
                  <a:ext uri="{0D108BD9-81ED-4DB2-BD59-A6C34878D82A}">
                    <a16:rowId xmlns:a16="http://schemas.microsoft.com/office/drawing/2014/main" val="10000"/>
                  </a:ext>
                </a:extLst>
              </a:tr>
              <a:tr h="832104">
                <a:tc>
                  <a:txBody>
                    <a:bodyPr/>
                    <a:lstStyle/>
                    <a:p>
                      <a:pPr algn="l"/>
                      <a:r>
                        <a:rPr sz="1300" b="1" i="0">
                          <a:solidFill>
                            <a:srgbClr val="1E2761"/>
                          </a:solidFill>
                          <a:latin typeface="Calibri"/>
                        </a:rPr>
                        <a:t>1. Prompt
specificity</a:t>
                      </a:r>
                    </a:p>
                  </a:txBody>
                  <a:tcPr marL="127000" marR="127000" marT="76200" marB="76200" anchor="ctr">
                    <a:solidFill>
                      <a:srgbClr val="F3F6FD"/>
                    </a:solidFill>
                  </a:tcPr>
                </a:tc>
                <a:tc>
                  <a:txBody>
                    <a:bodyPr/>
                    <a:lstStyle/>
                    <a:p>
                      <a:pPr algn="l"/>
                      <a:r>
                        <a:rPr sz="1300" b="0" i="0">
                          <a:solidFill>
                            <a:srgbClr val="1E6B3A"/>
                          </a:solidFill>
                          <a:latin typeface="Calibri"/>
                        </a:rPr>
                        <a:t>Copied verbatim, precise — shows thought before asking.</a:t>
                      </a:r>
                    </a:p>
                  </a:txBody>
                  <a:tcPr marL="127000" marR="127000" marT="76200" marB="76200" anchor="ctr">
                    <a:solidFill>
                      <a:srgbClr val="F3F6FD"/>
                    </a:solidFill>
                  </a:tcPr>
                </a:tc>
                <a:tc>
                  <a:txBody>
                    <a:bodyPr/>
                    <a:lstStyle/>
                    <a:p>
                      <a:pPr algn="l"/>
                      <a:r>
                        <a:rPr sz="1300" b="0" i="0">
                          <a:solidFill>
                            <a:srgbClr val="B02A2A"/>
                          </a:solidFill>
                          <a:latin typeface="Calibri"/>
                        </a:rPr>
                        <a:t>Paraphrased, vague, or generic (“tell me about X”).</a:t>
                      </a:r>
                    </a:p>
                  </a:txBody>
                  <a:tcPr marL="127000" marR="127000" marT="76200" marB="76200" anchor="ctr">
                    <a:solidFill>
                      <a:srgbClr val="F3F6FD"/>
                    </a:solidFill>
                  </a:tcPr>
                </a:tc>
                <a:extLst>
                  <a:ext uri="{0D108BD9-81ED-4DB2-BD59-A6C34878D82A}">
                    <a16:rowId xmlns:a16="http://schemas.microsoft.com/office/drawing/2014/main" val="10001"/>
                  </a:ext>
                </a:extLst>
              </a:tr>
              <a:tr h="832104">
                <a:tc>
                  <a:txBody>
                    <a:bodyPr/>
                    <a:lstStyle/>
                    <a:p>
                      <a:pPr algn="l"/>
                      <a:r>
                        <a:rPr sz="1300" b="1" i="0">
                          <a:solidFill>
                            <a:srgbClr val="1E2761"/>
                          </a:solidFill>
                          <a:latin typeface="Calibri"/>
                        </a:rPr>
                        <a:t>2. Critical
engagement</a:t>
                      </a:r>
                    </a:p>
                  </a:txBody>
                  <a:tcPr marL="127000" marR="127000" marT="76200" marB="76200" anchor="ctr">
                    <a:solidFill>
                      <a:srgbClr val="FFFFFF"/>
                    </a:solidFill>
                  </a:tcPr>
                </a:tc>
                <a:tc>
                  <a:txBody>
                    <a:bodyPr/>
                    <a:lstStyle/>
                    <a:p>
                      <a:pPr algn="l"/>
                      <a:r>
                        <a:rPr sz="1300" b="0" i="0">
                          <a:solidFill>
                            <a:srgbClr val="1E6B3A"/>
                          </a:solidFill>
                          <a:latin typeface="Calibri"/>
                        </a:rPr>
                        <a:t>A specific, substantive reason for accepting, editing, or rejecting the output.</a:t>
                      </a:r>
                    </a:p>
                  </a:txBody>
                  <a:tcPr marL="127000" marR="127000" marT="76200" marB="76200" anchor="ctr">
                    <a:solidFill>
                      <a:srgbClr val="FFFFFF"/>
                    </a:solidFill>
                  </a:tcPr>
                </a:tc>
                <a:tc>
                  <a:txBody>
                    <a:bodyPr/>
                    <a:lstStyle/>
                    <a:p>
                      <a:pPr algn="l"/>
                      <a:r>
                        <a:rPr sz="1300" b="0" i="0">
                          <a:solidFill>
                            <a:srgbClr val="B02A2A"/>
                          </a:solidFill>
                          <a:latin typeface="Calibri"/>
                        </a:rPr>
                        <a:t>“Used as-is” or “looked fine” — no reasoning given.</a:t>
                      </a:r>
                    </a:p>
                  </a:txBody>
                  <a:tcPr marL="127000" marR="127000" marT="76200" marB="76200" anchor="ctr">
                    <a:solidFill>
                      <a:srgbClr val="FFFFFF"/>
                    </a:solidFill>
                  </a:tcPr>
                </a:tc>
                <a:extLst>
                  <a:ext uri="{0D108BD9-81ED-4DB2-BD59-A6C34878D82A}">
                    <a16:rowId xmlns:a16="http://schemas.microsoft.com/office/drawing/2014/main" val="10002"/>
                  </a:ext>
                </a:extLst>
              </a:tr>
              <a:tr h="832104">
                <a:tc>
                  <a:txBody>
                    <a:bodyPr/>
                    <a:lstStyle/>
                    <a:p>
                      <a:pPr algn="l"/>
                      <a:r>
                        <a:rPr sz="1300" b="1" i="0">
                          <a:solidFill>
                            <a:srgbClr val="1E2761"/>
                          </a:solidFill>
                          <a:latin typeface="Calibri"/>
                        </a:rPr>
                        <a:t>3. Verification
rigor</a:t>
                      </a:r>
                    </a:p>
                  </a:txBody>
                  <a:tcPr marL="127000" marR="127000" marT="76200" marB="76200" anchor="ctr">
                    <a:solidFill>
                      <a:srgbClr val="F3F6FD"/>
                    </a:solidFill>
                  </a:tcPr>
                </a:tc>
                <a:tc>
                  <a:txBody>
                    <a:bodyPr/>
                    <a:lstStyle/>
                    <a:p>
                      <a:pPr algn="l"/>
                      <a:r>
                        <a:rPr sz="1300" b="0" i="0">
                          <a:solidFill>
                            <a:srgbClr val="1E6B3A"/>
                          </a:solidFill>
                          <a:latin typeface="Calibri"/>
                        </a:rPr>
                        <a:t>Claim is specific, tied to a named source, result stated plainly.</a:t>
                      </a:r>
                    </a:p>
                  </a:txBody>
                  <a:tcPr marL="127000" marR="127000" marT="76200" marB="76200" anchor="ctr">
                    <a:solidFill>
                      <a:srgbClr val="F3F6FD"/>
                    </a:solidFill>
                  </a:tcPr>
                </a:tc>
                <a:tc>
                  <a:txBody>
                    <a:bodyPr/>
                    <a:lstStyle/>
                    <a:p>
                      <a:pPr algn="l"/>
                      <a:r>
                        <a:rPr sz="1300" b="0" i="0">
                          <a:solidFill>
                            <a:srgbClr val="B02A2A"/>
                          </a:solidFill>
                          <a:latin typeface="Calibri"/>
                        </a:rPr>
                        <a:t>Claim is vague, unfalsifiable, or not actually checked.</a:t>
                      </a:r>
                    </a:p>
                  </a:txBody>
                  <a:tcPr marL="127000" marR="127000" marT="76200" marB="76200" anchor="ctr">
                    <a:solidFill>
                      <a:srgbClr val="F3F6FD"/>
                    </a:solidFill>
                  </a:tcPr>
                </a:tc>
                <a:extLst>
                  <a:ext uri="{0D108BD9-81ED-4DB2-BD59-A6C34878D82A}">
                    <a16:rowId xmlns:a16="http://schemas.microsoft.com/office/drawing/2014/main" val="10003"/>
                  </a:ext>
                </a:extLst>
              </a:tr>
              <a:tr h="832104">
                <a:tc>
                  <a:txBody>
                    <a:bodyPr/>
                    <a:lstStyle/>
                    <a:p>
                      <a:pPr algn="l"/>
                      <a:r>
                        <a:rPr sz="1300" b="1" i="0">
                          <a:solidFill>
                            <a:srgbClr val="1E2761"/>
                          </a:solidFill>
                          <a:latin typeface="Calibri"/>
                        </a:rPr>
                        <a:t>4. Connection to
coursework</a:t>
                      </a:r>
                    </a:p>
                  </a:txBody>
                  <a:tcPr marL="127000" marR="127000" marT="76200" marB="76200" anchor="ctr">
                    <a:solidFill>
                      <a:srgbClr val="FFFFFF"/>
                    </a:solidFill>
                  </a:tcPr>
                </a:tc>
                <a:tc>
                  <a:txBody>
                    <a:bodyPr/>
                    <a:lstStyle/>
                    <a:p>
                      <a:pPr algn="l"/>
                      <a:r>
                        <a:rPr sz="1300" b="0" i="0">
                          <a:solidFill>
                            <a:srgbClr val="1E6B3A"/>
                          </a:solidFill>
                          <a:latin typeface="Calibri"/>
                        </a:rPr>
                        <a:t>Visibly connects to that week’s actual topic or reading.</a:t>
                      </a:r>
                    </a:p>
                  </a:txBody>
                  <a:tcPr marL="127000" marR="127000" marT="76200" marB="76200" anchor="ctr">
                    <a:solidFill>
                      <a:srgbClr val="FFFFFF"/>
                    </a:solidFill>
                  </a:tcPr>
                </a:tc>
                <a:tc>
                  <a:txBody>
                    <a:bodyPr/>
                    <a:lstStyle/>
                    <a:p>
                      <a:pPr algn="l"/>
                      <a:r>
                        <a:rPr sz="1300" b="0" i="0">
                          <a:solidFill>
                            <a:srgbClr val="B02A2A"/>
                          </a:solidFill>
                          <a:latin typeface="Calibri"/>
                        </a:rPr>
                        <a:t>Generic — could have been written for any class.</a:t>
                      </a:r>
                    </a:p>
                  </a:txBody>
                  <a:tcPr marL="127000" marR="127000" marT="76200" marB="76200"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640080" y="5943600"/>
            <a:ext cx="10881360" cy="640080"/>
          </a:xfrm>
          <a:prstGeom prst="rect">
            <a:avLst/>
          </a:prstGeom>
          <a:noFill/>
        </p:spPr>
        <p:txBody>
          <a:bodyPr wrap="square">
            <a:spAutoFit/>
          </a:bodyPr>
          <a:lstStyle/>
          <a:p>
            <a:pPr algn="l">
              <a:spcAft>
                <a:spcPts val="400"/>
              </a:spcAft>
            </a:pPr>
            <a:r>
              <a:rPr sz="1400" b="1" i="0">
                <a:solidFill>
                  <a:srgbClr val="1E2761"/>
                </a:solidFill>
                <a:latin typeface="Calibri"/>
              </a:rPr>
              <a:t>Total /40. Flag REVIEW (not OK) whenever unsure — read those logs yourself before the grade is final.</a:t>
            </a:r>
          </a:p>
        </p:txBody>
      </p:sp>
      <p:sp>
        <p:nvSpPr>
          <p:cNvPr id="6" name="TextBox 5"/>
          <p:cNvSpPr txBox="1"/>
          <p:nvPr/>
        </p:nvSpPr>
        <p:spPr>
          <a:xfrm>
            <a:off x="640080" y="6446520"/>
            <a:ext cx="11274552" cy="320040"/>
          </a:xfrm>
          <a:prstGeom prst="rect">
            <a:avLst/>
          </a:prstGeom>
          <a:noFill/>
        </p:spPr>
        <p:txBody>
          <a:bodyPr wrap="square">
            <a:spAutoFit/>
          </a:bodyPr>
          <a:lstStyle/>
          <a:p>
            <a:pPr algn="l">
              <a:spcAft>
                <a:spcPts val="400"/>
              </a:spcAft>
            </a:pPr>
            <a:r>
              <a:rPr sz="1000" b="0" i="0">
                <a:solidFill>
                  <a:srgbClr val="5A5F73"/>
                </a:solidFill>
                <a:latin typeface="Calibri"/>
              </a:rPr>
              <a:t>KSE Sociology — AI-Use Log Guide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EFB27-8BC4-BB89-AD70-8514C41B2A39}"/>
              </a:ext>
            </a:extLst>
          </p:cNvPr>
          <p:cNvSpPr>
            <a:spLocks noGrp="1"/>
          </p:cNvSpPr>
          <p:nvPr>
            <p:ph type="title"/>
          </p:nvPr>
        </p:nvSpPr>
        <p:spPr/>
        <p:txBody>
          <a:bodyPr/>
          <a:lstStyle/>
          <a:p>
            <a:r>
              <a:rPr lang="en-UA" dirty="0">
                <a:solidFill>
                  <a:srgbClr val="FF0000"/>
                </a:solidFill>
              </a:rPr>
              <a:t>MY EXAMPLE – swithc to pdf file</a:t>
            </a:r>
          </a:p>
        </p:txBody>
      </p:sp>
      <p:sp>
        <p:nvSpPr>
          <p:cNvPr id="3" name="Text Placeholder 2">
            <a:extLst>
              <a:ext uri="{FF2B5EF4-FFF2-40B4-BE49-F238E27FC236}">
                <a16:creationId xmlns:a16="http://schemas.microsoft.com/office/drawing/2014/main" id="{6F2525F9-6139-D6CE-CFFB-8635CDFAF36D}"/>
              </a:ext>
            </a:extLst>
          </p:cNvPr>
          <p:cNvSpPr>
            <a:spLocks noGrp="1"/>
          </p:cNvSpPr>
          <p:nvPr>
            <p:ph type="body" idx="1"/>
          </p:nvPr>
        </p:nvSpPr>
        <p:spPr/>
        <p:txBody>
          <a:bodyPr/>
          <a:lstStyle/>
          <a:p>
            <a:endParaRPr lang="en-UA"/>
          </a:p>
        </p:txBody>
      </p:sp>
    </p:spTree>
    <p:extLst>
      <p:ext uri="{BB962C8B-B14F-4D97-AF65-F5344CB8AC3E}">
        <p14:creationId xmlns:p14="http://schemas.microsoft.com/office/powerpoint/2010/main" val="3866478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98</TotalTime>
  <Words>857</Words>
  <Application>Microsoft Macintosh PowerPoint</Application>
  <PresentationFormat>Widescreen</PresentationFormat>
  <Paragraphs>92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MY EXAMPLE – swithc to pdf file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Tymofii Brik</cp:lastModifiedBy>
  <cp:revision>9</cp:revision>
  <dcterms:created xsi:type="dcterms:W3CDTF">2013-01-27T09:14:16Z</dcterms:created>
  <dcterms:modified xsi:type="dcterms:W3CDTF">2026-09-14T06:56:21Z</dcterms:modified>
  <cp:category/>
</cp:coreProperties>
</file>